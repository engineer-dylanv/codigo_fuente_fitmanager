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6" r:id="rId1"/>
  </p:sldMasterIdLst>
  <p:notesMasterIdLst>
    <p:notesMasterId r:id="rId16"/>
  </p:notesMasterIdLst>
  <p:handoutMasterIdLst>
    <p:handoutMasterId r:id="rId17"/>
  </p:handoutMasterIdLst>
  <p:sldIdLst>
    <p:sldId id="544" r:id="rId2"/>
    <p:sldId id="536" r:id="rId3"/>
    <p:sldId id="541" r:id="rId4"/>
    <p:sldId id="549" r:id="rId5"/>
    <p:sldId id="550" r:id="rId6"/>
    <p:sldId id="532" r:id="rId7"/>
    <p:sldId id="551" r:id="rId8"/>
    <p:sldId id="537" r:id="rId9"/>
    <p:sldId id="554" r:id="rId10"/>
    <p:sldId id="552" r:id="rId11"/>
    <p:sldId id="542" r:id="rId12"/>
    <p:sldId id="555" r:id="rId13"/>
    <p:sldId id="553" r:id="rId14"/>
    <p:sldId id="531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95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87" userDrawn="1">
          <p15:clr>
            <a:srgbClr val="A4A3A4"/>
          </p15:clr>
        </p15:guide>
        <p15:guide id="4" pos="438" userDrawn="1">
          <p15:clr>
            <a:srgbClr val="A4A3A4"/>
          </p15:clr>
        </p15:guide>
        <p15:guide id="5" orient="horz" pos="2387" userDrawn="1">
          <p15:clr>
            <a:srgbClr val="A4A3A4"/>
          </p15:clr>
        </p15:guide>
        <p15:guide id="6" orient="horz" pos="2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D4D4C"/>
    <a:srgbClr val="343433"/>
    <a:srgbClr val="FF6C00"/>
    <a:srgbClr val="38AA00"/>
    <a:srgbClr val="766363"/>
    <a:srgbClr val="FFF5EA"/>
    <a:srgbClr val="0032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266"/>
    <p:restoredTop sz="97242"/>
  </p:normalViewPr>
  <p:slideViewPr>
    <p:cSldViewPr snapToGrid="0">
      <p:cViewPr varScale="1">
        <p:scale>
          <a:sx n="111" d="100"/>
          <a:sy n="111" d="100"/>
        </p:scale>
        <p:origin x="1152" y="96"/>
      </p:cViewPr>
      <p:guideLst>
        <p:guide orient="horz" pos="595"/>
        <p:guide pos="3840"/>
        <p:guide orient="horz" pos="187"/>
        <p:guide pos="438"/>
        <p:guide orient="horz" pos="2387"/>
        <p:guide orient="horz" pos="2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7" d="100"/>
          <a:sy n="97" d="100"/>
        </p:scale>
        <p:origin x="5336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9999AFE6-721E-1D92-FFC0-72E02DBB97B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A598C0A-ECF9-B897-80D5-1AE7ABA3058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369B9F-131C-2846-AB8F-CEE154B4CAEB}" type="datetimeFigureOut">
              <a:rPr lang="es-CO" smtClean="0"/>
              <a:t>10/09/2026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88F308B-0102-A0B4-9A23-E807C735E85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E7CACDD-5D14-572A-2591-609B03F1682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93070F-3F68-E043-9CC3-B53B4F22454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700459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0CB96-A603-FF42-AE46-F5F75F80A67B}" type="datetimeFigureOut">
              <a:rPr lang="es-CO" smtClean="0"/>
              <a:t>10/09/2026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06C58E-460D-4A4B-B0C2-1191B9D14FC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21302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10/09/2026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3975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10/09/2026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66617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10/09/2026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20098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10/09/2026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513412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10/09/2026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21182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10/09/2026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247971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10/09/2026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809736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10/09/2026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702310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10/09/2026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57728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10/09/2026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16382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10/09/2026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097517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CE09D5-8681-04F4-0AD1-7206C3FF5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EB62C8D-42BE-8DF8-DDA7-6DDCB2389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10/09/2026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9F9D5C3-AD35-C818-D069-AB2D8EBBE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106A169-E84D-2DE1-E7CC-7058F9C00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45659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86248-06F7-A441-A47A-264EBD310E11}" type="datetimeFigureOut">
              <a:rPr lang="es-CO" smtClean="0"/>
              <a:t>10/09/2026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61471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7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2FCF1B-3E11-3F22-6015-1D39D506E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E10E589-B888-5E3E-CA59-27D086F81F4B}"/>
              </a:ext>
            </a:extLst>
          </p:cNvPr>
          <p:cNvSpPr txBox="1"/>
          <p:nvPr/>
        </p:nvSpPr>
        <p:spPr>
          <a:xfrm>
            <a:off x="963672" y="2551837"/>
            <a:ext cx="6949440" cy="2148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5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Work Sans Bold Roman" pitchFamily="2" charset="77"/>
                <a:ea typeface="+mn-ea"/>
                <a:cs typeface="+mn-cs"/>
              </a:rPr>
              <a:t>FitManager</a:t>
            </a:r>
          </a:p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Work Sans Bold Roman" pitchFamily="2" charset="77"/>
                <a:ea typeface="+mn-ea"/>
                <a:cs typeface="+mn-cs"/>
              </a:rPr>
              <a:t>Sistema de Gestión Integral para Gimnasios</a:t>
            </a:r>
            <a:endParaRPr kumimoji="0" lang="es-ES" sz="40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Work Sans Bold Roman" pitchFamily="2" charset="77"/>
              <a:ea typeface="+mn-ea"/>
              <a:cs typeface="+mn-cs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A731264-90CB-E172-3E76-C1DE47353169}"/>
              </a:ext>
            </a:extLst>
          </p:cNvPr>
          <p:cNvSpPr txBox="1"/>
          <p:nvPr/>
        </p:nvSpPr>
        <p:spPr>
          <a:xfrm>
            <a:off x="9185414" y="4718718"/>
            <a:ext cx="1945270" cy="1026023"/>
          </a:xfrm>
          <a:prstGeom prst="rect">
            <a:avLst/>
          </a:prstGeom>
          <a:solidFill>
            <a:schemeClr val="accent5">
              <a:alpha val="68057"/>
            </a:schemeClr>
          </a:solidFill>
        </p:spPr>
        <p:txBody>
          <a:bodyPr wrap="square" lIns="108000" tIns="108000" rIns="108000" bIns="108000" rtlCol="0">
            <a:spAutoFit/>
          </a:bodyPr>
          <a:lstStyle/>
          <a:p>
            <a:pPr algn="ctr"/>
            <a:r>
              <a:rPr lang="es-CO" sz="1050" b="1" dirty="0">
                <a:solidFill>
                  <a:schemeClr val="tx1">
                    <a:lumMod val="60000"/>
                    <a:lumOff val="40000"/>
                  </a:schemeClr>
                </a:solidFill>
                <a:latin typeface="WORK SANS BOLD ROMAN" pitchFamily="2" charset="77"/>
              </a:rPr>
              <a:t>Sustentación Final — Programa ADSO</a:t>
            </a:r>
          </a:p>
          <a:p>
            <a:pPr algn="ctr"/>
            <a:r>
              <a:rPr lang="es-CO" sz="1050" b="1" dirty="0">
                <a:solidFill>
                  <a:schemeClr val="tx1">
                    <a:lumMod val="60000"/>
                    <a:lumOff val="40000"/>
                  </a:schemeClr>
                </a:solidFill>
                <a:latin typeface="WORK SANS BOLD ROMAN" pitchFamily="2" charset="77"/>
              </a:rPr>
              <a:t>Kevin Andres Turizo Tamara</a:t>
            </a:r>
          </a:p>
          <a:p>
            <a:pPr algn="ctr"/>
            <a:r>
              <a:rPr lang="es-CO" sz="1050" b="1" dirty="0">
                <a:solidFill>
                  <a:schemeClr val="tx1">
                    <a:lumMod val="60000"/>
                    <a:lumOff val="40000"/>
                  </a:schemeClr>
                </a:solidFill>
                <a:latin typeface="WORK SANS BOLD ROMAN" pitchFamily="2" charset="77"/>
              </a:rPr>
              <a:t>Dylan Alessandro Vera Peñuela</a:t>
            </a:r>
          </a:p>
          <a:p>
            <a:pPr algn="ctr"/>
            <a:r>
              <a:rPr lang="es-CO" sz="1050" b="1" dirty="0">
                <a:solidFill>
                  <a:schemeClr val="tx1">
                    <a:lumMod val="60000"/>
                    <a:lumOff val="40000"/>
                  </a:schemeClr>
                </a:solidFill>
                <a:latin typeface="WORK SANS BOLD ROMAN" pitchFamily="2" charset="77"/>
              </a:rPr>
              <a:t>Instructora: María del Pilar Bonilla Moreno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B4E74E67-5DA0-D842-19A5-A58C5A6DD54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976" t="22927" r="24976" b="22927"/>
          <a:stretch/>
        </p:blipFill>
        <p:spPr>
          <a:xfrm>
            <a:off x="10207572" y="1055213"/>
            <a:ext cx="923111" cy="90876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781EE8E9-258F-5D3D-5407-C96214A312A8}"/>
              </a:ext>
            </a:extLst>
          </p:cNvPr>
          <p:cNvSpPr txBox="1"/>
          <p:nvPr/>
        </p:nvSpPr>
        <p:spPr>
          <a:xfrm>
            <a:off x="391886" y="296862"/>
            <a:ext cx="282839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kumimoji="0" lang="es-CO" sz="1000" b="1" u="none" strike="noStrike" kern="1200" cap="none" spc="0" normalizeH="0" baseline="0" noProof="0" dirty="0">
                <a:ln>
                  <a:noFill/>
                </a:ln>
                <a:solidFill>
                  <a:srgbClr val="4D4D4C"/>
                </a:solidFill>
                <a:effectLst/>
                <a:uLnTx/>
                <a:uFillTx/>
                <a:latin typeface="WORK SANS SEMIBOLD ROMAN" pitchFamily="2" charset="77"/>
                <a:cs typeface="Arial" panose="020B0604020202020204" pitchFamily="34" charset="0"/>
              </a:rPr>
              <a:t>Clasificación de la información: </a:t>
            </a:r>
            <a:r>
              <a:rPr lang="es-CO" sz="1000" b="1" dirty="0">
                <a:solidFill>
                  <a:srgbClr val="4D4D4C"/>
                </a:solidFill>
                <a:latin typeface="WORK SANS SEMIBOLD ROMAN" pitchFamily="2" charset="77"/>
                <a:cs typeface="Arial" panose="020B0604020202020204" pitchFamily="34" charset="0"/>
              </a:rPr>
              <a:t>Pública</a:t>
            </a:r>
            <a:endParaRPr kumimoji="0" lang="es-CO" sz="1000" b="1" u="none" strike="noStrike" kern="1200" cap="none" spc="0" normalizeH="0" baseline="0" noProof="0" dirty="0">
              <a:ln>
                <a:noFill/>
              </a:ln>
              <a:solidFill>
                <a:srgbClr val="4D4D4C"/>
              </a:solidFill>
              <a:effectLst/>
              <a:uLnTx/>
              <a:uFillTx/>
              <a:latin typeface="WORK SANS SEMIBOLD ROMAN" pitchFamily="2" charset="7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94230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CE75F1-F343-8856-BC69-4BB6B82BF3E4}"/>
              </a:ext>
            </a:extLst>
          </p:cNvPr>
          <p:cNvSpPr txBox="1">
            <a:spLocks/>
          </p:cNvSpPr>
          <p:nvPr/>
        </p:nvSpPr>
        <p:spPr>
          <a:xfrm>
            <a:off x="695325" y="944563"/>
            <a:ext cx="7315200" cy="402295"/>
          </a:xfrm>
          <a:prstGeom prst="rect">
            <a:avLst/>
          </a:prstGeom>
          <a:ln>
            <a:noFill/>
          </a:ln>
        </p:spPr>
        <p:txBody>
          <a:bodyPr lIns="0" tIns="0" r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3600" b="1" u="none" strike="noStrike" kern="1200" cap="none" spc="0" normalizeH="0" baseline="0" noProof="0" dirty="0">
                <a:ln>
                  <a:noFill/>
                </a:ln>
                <a:solidFill>
                  <a:srgbClr val="4D4D4C"/>
                </a:solidFill>
                <a:effectLst/>
                <a:uLnTx/>
                <a:uFillTx/>
                <a:latin typeface="WORK SANS BOLD ROMAN" pitchFamily="2" charset="77"/>
              </a:rPr>
              <a:t>Agenda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6C31FC2-6C63-0CB9-C78D-1723D5E9DD66}"/>
              </a:ext>
            </a:extLst>
          </p:cNvPr>
          <p:cNvSpPr txBox="1"/>
          <p:nvPr/>
        </p:nvSpPr>
        <p:spPr>
          <a:xfrm>
            <a:off x="695326" y="1592263"/>
            <a:ext cx="4717774" cy="369331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endParaRPr/>
          </a:p>
          <a:p>
            <a:endParaRPr lang="es-CO" sz="1600" dirty="0">
              <a:solidFill>
                <a:schemeClr val="accent5">
                  <a:lumMod val="85000"/>
                  <a:lumOff val="15000"/>
                </a:schemeClr>
              </a:solidFill>
              <a:latin typeface="Work Sans Light Roman" pitchFamily="2" charset="77"/>
            </a:endParaRPr>
          </a:p>
          <a:p>
            <a:endParaRPr lang="es-CO" sz="1600" dirty="0">
              <a:solidFill>
                <a:schemeClr val="accent5">
                  <a:lumMod val="85000"/>
                  <a:lumOff val="15000"/>
                </a:schemeClr>
              </a:solidFill>
              <a:latin typeface="Work Sans Light Roman" pitchFamily="2" charset="77"/>
            </a:endParaRPr>
          </a:p>
          <a:p>
            <a:endParaRPr lang="es-CO" sz="1600" dirty="0">
              <a:solidFill>
                <a:schemeClr val="accent5">
                  <a:lumMod val="85000"/>
                  <a:lumOff val="15000"/>
                </a:schemeClr>
              </a:solidFill>
              <a:latin typeface="Work Sans Light Roman" pitchFamily="2" charset="77"/>
            </a:endParaRP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s-CO" sz="1600" dirty="0" err="1">
                <a:solidFill>
                  <a:schemeClr val="accent5">
                    <a:lumMod val="85000"/>
                    <a:lumOff val="15000"/>
                  </a:schemeClr>
                </a:solidFill>
                <a:latin typeface="Work Sans Light Roman" pitchFamily="2" charset="77"/>
              </a:rPr>
              <a:t>Introducción y alcance del proyecto</a:t>
            </a: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s-CO" sz="1600" dirty="0" err="1">
                <a:solidFill>
                  <a:schemeClr val="accent5">
                    <a:lumMod val="85000"/>
                    <a:lumOff val="15000"/>
                  </a:schemeClr>
                </a:solidFill>
                <a:latin typeface="Work Sans Light Roman" pitchFamily="2" charset="77"/>
              </a:rPr>
              <a:t>Actores, requisitos y reglas de negocio</a:t>
            </a: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s-CO" sz="1600" dirty="0" err="1">
                <a:solidFill>
                  <a:schemeClr val="accent5">
                    <a:lumMod val="85000"/>
                    <a:lumOff val="15000"/>
                  </a:schemeClr>
                </a:solidFill>
                <a:latin typeface="Work Sans Light Roman" pitchFamily="2" charset="77"/>
              </a:rPr>
              <a:t>Casos de uso e historias de usuario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9A9B9AD-98C5-3207-38A3-E41FED9161AC}"/>
              </a:ext>
            </a:extLst>
          </p:cNvPr>
          <p:cNvSpPr txBox="1"/>
          <p:nvPr/>
        </p:nvSpPr>
        <p:spPr>
          <a:xfrm>
            <a:off x="6102213" y="1592263"/>
            <a:ext cx="5394462" cy="32932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endParaRPr/>
          </a:p>
          <a:p>
            <a:endParaRPr lang="es-CO" sz="1600" dirty="0">
              <a:solidFill>
                <a:schemeClr val="accent5">
                  <a:lumMod val="85000"/>
                  <a:lumOff val="15000"/>
                </a:schemeClr>
              </a:solidFill>
              <a:latin typeface="Work Sans Light Roman" pitchFamily="2" charset="77"/>
            </a:endParaRPr>
          </a:p>
          <a:p>
            <a:endParaRPr lang="es-CO" sz="1600" dirty="0">
              <a:solidFill>
                <a:schemeClr val="accent5">
                  <a:lumMod val="85000"/>
                  <a:lumOff val="15000"/>
                </a:schemeClr>
              </a:solidFill>
              <a:latin typeface="Work Sans Light Roman" pitchFamily="2" charset="77"/>
            </a:endParaRPr>
          </a:p>
          <a:p>
            <a:endParaRPr lang="es-CO" sz="1600" dirty="0">
              <a:solidFill>
                <a:schemeClr val="accent5">
                  <a:lumMod val="85000"/>
                  <a:lumOff val="15000"/>
                </a:schemeClr>
              </a:solidFill>
              <a:latin typeface="Work Sans Light Roman" pitchFamily="2" charset="77"/>
            </a:endParaRPr>
          </a:p>
          <a:p>
            <a:pPr marL="342900" indent="-342900">
              <a:buFont typeface="+mj-lt"/>
              <a:buAutoNum type="arabicPeriod"/>
            </a:pPr>
            <a:r>
              <a:rPr lang="es-CO" sz="1600" dirty="0" err="1">
                <a:solidFill>
                  <a:schemeClr val="accent5">
                    <a:lumMod val="85000"/>
                    <a:lumOff val="15000"/>
                  </a:schemeClr>
                </a:solidFill>
                <a:latin typeface="Work Sans Light Roman" pitchFamily="2" charset="77"/>
              </a:rPr>
              <a:t>Arquitectura y modelo de datos</a:t>
            </a:r>
          </a:p>
          <a:p>
            <a:pPr marL="342900" indent="-342900">
              <a:buFont typeface="+mj-lt"/>
              <a:buAutoNum type="arabicPeriod"/>
            </a:pPr>
            <a:r>
              <a:rPr lang="es-CO" sz="1600" dirty="0" err="1">
                <a:solidFill>
                  <a:schemeClr val="accent5">
                    <a:lumMod val="85000"/>
                    <a:lumOff val="15000"/>
                  </a:schemeClr>
                </a:solidFill>
                <a:latin typeface="Work Sans Light Roman" pitchFamily="2" charset="77"/>
              </a:rPr>
              <a:t>Diagrama de clases del sistema</a:t>
            </a:r>
          </a:p>
          <a:p>
            <a:pPr marL="342900" indent="-342900">
              <a:buFont typeface="+mj-lt"/>
              <a:buAutoNum type="arabicPeriod"/>
            </a:pPr>
            <a:r>
              <a:rPr lang="es-CO" sz="1600" dirty="0" err="1">
                <a:solidFill>
                  <a:schemeClr val="accent5">
                    <a:lumMod val="85000"/>
                    <a:lumOff val="15000"/>
                  </a:schemeClr>
                </a:solidFill>
                <a:latin typeface="Work Sans Light Roman" pitchFamily="2" charset="77"/>
              </a:rPr>
              <a:t>Conclusiones</a:t>
            </a:r>
          </a:p>
        </p:txBody>
      </p:sp>
    </p:spTree>
    <p:extLst>
      <p:ext uri="{BB962C8B-B14F-4D97-AF65-F5344CB8AC3E}">
        <p14:creationId xmlns:p14="http://schemas.microsoft.com/office/powerpoint/2010/main" val="4580581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35BFFB67-C3D4-337D-C327-AB25D270EADA}"/>
              </a:ext>
            </a:extLst>
          </p:cNvPr>
          <p:cNvSpPr txBox="1"/>
          <p:nvPr/>
        </p:nvSpPr>
        <p:spPr>
          <a:xfrm>
            <a:off x="731520" y="2468880"/>
            <a:ext cx="10698480" cy="2011680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3200" b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WORK SANS BOLD ROMAN" pitchFamily="2" charset="77"/>
              </a:rPr>
              <a:t>La gestión manual genera errores de control, descontrol financiero y cero trazabilidad del progreso del cliente.</a:t>
            </a:r>
            <a:endParaRPr kumimoji="0" lang="es-CO" sz="7200" b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WORK SANS BOLD ROMAN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1291846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CE75F1-F343-8856-BC69-4BB6B82BF3E4}"/>
              </a:ext>
            </a:extLst>
          </p:cNvPr>
          <p:cNvSpPr txBox="1">
            <a:spLocks/>
          </p:cNvSpPr>
          <p:nvPr/>
        </p:nvSpPr>
        <p:spPr>
          <a:xfrm>
            <a:off x="695325" y="944563"/>
            <a:ext cx="7315200" cy="402295"/>
          </a:xfrm>
          <a:prstGeom prst="rect">
            <a:avLst/>
          </a:prstGeom>
          <a:ln>
            <a:noFill/>
          </a:ln>
        </p:spPr>
        <p:txBody>
          <a:bodyPr lIns="0" tIns="0" r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3600" b="1" u="none" strike="noStrike" kern="1200" cap="none" spc="0" normalizeH="0" baseline="0" noProof="0" dirty="0">
                <a:ln>
                  <a:noFill/>
                </a:ln>
                <a:solidFill>
                  <a:srgbClr val="4D4D4C"/>
                </a:solidFill>
                <a:effectLst/>
                <a:uLnTx/>
                <a:uFillTx/>
                <a:latin typeface="WORK SANS BOLD ROMAN" pitchFamily="2" charset="77"/>
              </a:rPr>
              <a:t>Alcance del Sistema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6C31FC2-6C63-0CB9-C78D-1723D5E9DD66}"/>
              </a:ext>
            </a:extLst>
          </p:cNvPr>
          <p:cNvSpPr txBox="1"/>
          <p:nvPr/>
        </p:nvSpPr>
        <p:spPr>
          <a:xfrm>
            <a:off x="695326" y="1592263"/>
            <a:ext cx="4717774" cy="369331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CO" sz="1600" dirty="0" err="1">
                <a:solidFill>
                  <a:schemeClr val="accent5">
                    <a:lumMod val="85000"/>
                    <a:lumOff val="15000"/>
                  </a:schemeClr>
                </a:solidFill>
                <a:latin typeface="Work Sans Light Roman" pitchFamily="2" charset="77"/>
              </a:rPr>
              <a:t>Qué cubre FitManager:</a:t>
            </a:r>
          </a:p>
          <a:p>
            <a:endParaRPr lang="es-CO" sz="1600" dirty="0">
              <a:solidFill>
                <a:schemeClr val="accent5">
                  <a:lumMod val="85000"/>
                  <a:lumOff val="15000"/>
                </a:schemeClr>
              </a:solidFill>
              <a:latin typeface="Work Sans Light Roman" pitchFamily="2" charset="77"/>
            </a:endParaRPr>
          </a:p>
          <a:p>
            <a:endParaRPr lang="es-CO" sz="1600" dirty="0">
              <a:solidFill>
                <a:schemeClr val="accent5">
                  <a:lumMod val="85000"/>
                  <a:lumOff val="15000"/>
                </a:schemeClr>
              </a:solidFill>
              <a:latin typeface="Work Sans Light Roman" pitchFamily="2" charset="77"/>
            </a:endParaRPr>
          </a:p>
          <a:p>
            <a:endParaRPr lang="es-CO" sz="1600" dirty="0">
              <a:solidFill>
                <a:schemeClr val="accent5">
                  <a:lumMod val="85000"/>
                  <a:lumOff val="15000"/>
                </a:schemeClr>
              </a:solidFill>
              <a:latin typeface="Work Sans Light Roman" pitchFamily="2" charset="77"/>
            </a:endParaRP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s-CO" sz="1600" dirty="0" err="1">
                <a:solidFill>
                  <a:schemeClr val="accent5">
                    <a:lumMod val="85000"/>
                    <a:lumOff val="15000"/>
                  </a:schemeClr>
                </a:solidFill>
                <a:latin typeface="Work Sans Light Roman" pitchFamily="2" charset="77"/>
              </a:rPr>
              <a:t>Autenticación y control de acceso</a:t>
            </a: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s-CO" sz="1600" dirty="0" err="1">
                <a:solidFill>
                  <a:schemeClr val="accent5">
                    <a:lumMod val="85000"/>
                    <a:lumOff val="15000"/>
                  </a:schemeClr>
                </a:solidFill>
                <a:latin typeface="Work Sans Light Roman" pitchFamily="2" charset="77"/>
              </a:rPr>
              <a:t>Ventas de membresías y productos</a:t>
            </a: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s-CO" sz="1600" dirty="0" err="1">
                <a:solidFill>
                  <a:schemeClr val="accent5">
                    <a:lumMod val="85000"/>
                    <a:lumOff val="15000"/>
                  </a:schemeClr>
                </a:solidFill>
                <a:latin typeface="Work Sans Light Roman" pitchFamily="2" charset="77"/>
              </a:rPr>
              <a:t>Agendamiento de clases y asistencia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9A9B9AD-98C5-3207-38A3-E41FED9161AC}"/>
              </a:ext>
            </a:extLst>
          </p:cNvPr>
          <p:cNvSpPr txBox="1"/>
          <p:nvPr/>
        </p:nvSpPr>
        <p:spPr>
          <a:xfrm>
            <a:off x="6102213" y="1592263"/>
            <a:ext cx="5394462" cy="32932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CO" sz="1600" dirty="0" err="1">
                <a:solidFill>
                  <a:schemeClr val="accent5">
                    <a:lumMod val="85000"/>
                    <a:lumOff val="15000"/>
                  </a:schemeClr>
                </a:solidFill>
                <a:latin typeface="Work Sans Light Roman" pitchFamily="2" charset="77"/>
              </a:rPr>
              <a:t>Fuera de alcance (fase 1):</a:t>
            </a:r>
          </a:p>
          <a:p>
            <a:endParaRPr lang="es-CO" sz="1600" dirty="0">
              <a:solidFill>
                <a:schemeClr val="accent5">
                  <a:lumMod val="85000"/>
                  <a:lumOff val="15000"/>
                </a:schemeClr>
              </a:solidFill>
              <a:latin typeface="Work Sans Light Roman" pitchFamily="2" charset="77"/>
            </a:endParaRPr>
          </a:p>
          <a:p>
            <a:endParaRPr lang="es-CO" sz="1600" dirty="0">
              <a:solidFill>
                <a:schemeClr val="accent5">
                  <a:lumMod val="85000"/>
                  <a:lumOff val="15000"/>
                </a:schemeClr>
              </a:solidFill>
              <a:latin typeface="Work Sans Light Roman" pitchFamily="2" charset="77"/>
            </a:endParaRPr>
          </a:p>
          <a:p>
            <a:endParaRPr lang="es-CO" sz="1600" dirty="0">
              <a:solidFill>
                <a:schemeClr val="accent5">
                  <a:lumMod val="85000"/>
                  <a:lumOff val="15000"/>
                </a:schemeClr>
              </a:solidFill>
              <a:latin typeface="Work Sans Light Roman" pitchFamily="2" charset="77"/>
            </a:endParaRPr>
          </a:p>
          <a:p>
            <a:pPr marL="342900" indent="-342900">
              <a:buFont typeface="+mj-lt"/>
              <a:buAutoNum type="arabicPeriod"/>
            </a:pPr>
            <a:r>
              <a:rPr lang="es-CO" sz="1600" dirty="0" err="1">
                <a:solidFill>
                  <a:schemeClr val="accent5">
                    <a:lumMod val="85000"/>
                    <a:lumOff val="15000"/>
                  </a:schemeClr>
                </a:solidFill>
                <a:latin typeface="Work Sans Light Roman" pitchFamily="2" charset="77"/>
              </a:rPr>
              <a:t>Integración con torniquetes biométricos</a:t>
            </a:r>
          </a:p>
          <a:p>
            <a:pPr marL="342900" indent="-342900">
              <a:buFont typeface="+mj-lt"/>
              <a:buAutoNum type="arabicPeriod"/>
            </a:pPr>
            <a:r>
              <a:rPr lang="es-CO" sz="1600" dirty="0" err="1">
                <a:solidFill>
                  <a:schemeClr val="accent5">
                    <a:lumMod val="85000"/>
                    <a:lumOff val="15000"/>
                  </a:schemeClr>
                </a:solidFill>
                <a:latin typeface="Work Sans Light Roman" pitchFamily="2" charset="77"/>
              </a:rPr>
              <a:t>Facturación electrónica ante la DIAN</a:t>
            </a:r>
          </a:p>
          <a:p>
            <a:pPr marL="342900" indent="-342900">
              <a:buFont typeface="+mj-lt"/>
              <a:buAutoNum type="arabicPeriod"/>
            </a:pPr>
            <a:r>
              <a:rPr lang="es-CO" sz="1600" dirty="0" err="1">
                <a:solidFill>
                  <a:schemeClr val="accent5">
                    <a:lumMod val="85000"/>
                    <a:lumOff val="15000"/>
                  </a:schemeClr>
                </a:solidFill>
                <a:latin typeface="Work Sans Light Roman" pitchFamily="2" charset="77"/>
              </a:rPr>
              <a:t>Solo se maneja facturación interna (POS)</a:t>
            </a:r>
          </a:p>
        </p:txBody>
      </p:sp>
    </p:spTree>
    <p:extLst>
      <p:ext uri="{BB962C8B-B14F-4D97-AF65-F5344CB8AC3E}">
        <p14:creationId xmlns:p14="http://schemas.microsoft.com/office/powerpoint/2010/main" val="4580581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CE75F1-F343-8856-BC69-4BB6B82BF3E4}"/>
              </a:ext>
            </a:extLst>
          </p:cNvPr>
          <p:cNvSpPr txBox="1">
            <a:spLocks/>
          </p:cNvSpPr>
          <p:nvPr/>
        </p:nvSpPr>
        <p:spPr>
          <a:xfrm>
            <a:off x="695325" y="944563"/>
            <a:ext cx="7315200" cy="402295"/>
          </a:xfrm>
          <a:prstGeom prst="rect">
            <a:avLst/>
          </a:prstGeom>
          <a:ln>
            <a:noFill/>
          </a:ln>
        </p:spPr>
        <p:txBody>
          <a:bodyPr lIns="0" tIns="0" r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3600" b="1" u="none" strike="noStrike" kern="1200" cap="none" spc="0" normalizeH="0" baseline="0" noProof="0" dirty="0">
                <a:ln>
                  <a:noFill/>
                </a:ln>
                <a:solidFill>
                  <a:srgbClr val="4D4D4C"/>
                </a:solidFill>
                <a:effectLst/>
                <a:uLnTx/>
                <a:uFillTx/>
                <a:latin typeface="WORK SANS BOLD ROMAN" pitchFamily="2" charset="77"/>
              </a:rPr>
              <a:t>Actores del Sistema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6C31FC2-6C63-0CB9-C78D-1723D5E9DD66}"/>
              </a:ext>
            </a:extLst>
          </p:cNvPr>
          <p:cNvSpPr txBox="1"/>
          <p:nvPr/>
        </p:nvSpPr>
        <p:spPr>
          <a:xfrm>
            <a:off x="695326" y="1592263"/>
            <a:ext cx="4717774" cy="369331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CO" sz="1600" dirty="0" err="1">
                <a:solidFill>
                  <a:schemeClr val="accent5">
                    <a:lumMod val="85000"/>
                    <a:lumOff val="15000"/>
                  </a:schemeClr>
                </a:solidFill>
                <a:latin typeface="Work Sans Light Roman" pitchFamily="2" charset="77"/>
              </a:rPr>
              <a:t>Administrador (staff del gimnasio):</a:t>
            </a:r>
          </a:p>
          <a:p>
            <a:endParaRPr lang="es-CO" sz="1600" dirty="0">
              <a:solidFill>
                <a:schemeClr val="accent5">
                  <a:lumMod val="85000"/>
                  <a:lumOff val="15000"/>
                </a:schemeClr>
              </a:solidFill>
              <a:latin typeface="Work Sans Light Roman" pitchFamily="2" charset="77"/>
            </a:endParaRPr>
          </a:p>
          <a:p>
            <a:endParaRPr lang="es-CO" sz="1600" dirty="0">
              <a:solidFill>
                <a:schemeClr val="accent5">
                  <a:lumMod val="85000"/>
                  <a:lumOff val="15000"/>
                </a:schemeClr>
              </a:solidFill>
              <a:latin typeface="Work Sans Light Roman" pitchFamily="2" charset="77"/>
            </a:endParaRPr>
          </a:p>
          <a:p>
            <a:endParaRPr lang="es-CO" sz="1600" dirty="0">
              <a:solidFill>
                <a:schemeClr val="accent5">
                  <a:lumMod val="85000"/>
                  <a:lumOff val="15000"/>
                </a:schemeClr>
              </a:solidFill>
              <a:latin typeface="Work Sans Light Roman" pitchFamily="2" charset="77"/>
            </a:endParaRP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s-CO" sz="1600" dirty="0" err="1">
                <a:solidFill>
                  <a:schemeClr val="accent5">
                    <a:lumMod val="85000"/>
                    <a:lumOff val="15000"/>
                  </a:schemeClr>
                </a:solidFill>
                <a:latin typeface="Work Sans Light Roman" pitchFamily="2" charset="77"/>
              </a:rPr>
              <a:t>Registra pagos y crea clientes</a:t>
            </a: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s-CO" sz="1600" dirty="0" err="1">
                <a:solidFill>
                  <a:schemeClr val="accent5">
                    <a:lumMod val="85000"/>
                    <a:lumOff val="15000"/>
                  </a:schemeClr>
                </a:solidFill>
                <a:latin typeface="Work Sans Light Roman" pitchFamily="2" charset="77"/>
              </a:rPr>
              <a:t>Asigna rutinas y factura productos</a:t>
            </a: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s-CO" sz="1600" dirty="0" err="1">
                <a:solidFill>
                  <a:schemeClr val="accent5">
                    <a:lumMod val="85000"/>
                    <a:lumOff val="15000"/>
                  </a:schemeClr>
                </a:solidFill>
                <a:latin typeface="Work Sans Light Roman" pitchFamily="2" charset="77"/>
              </a:rPr>
              <a:t>Permisos CRUD totales del sistema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9A9B9AD-98C5-3207-38A3-E41FED9161AC}"/>
              </a:ext>
            </a:extLst>
          </p:cNvPr>
          <p:cNvSpPr txBox="1"/>
          <p:nvPr/>
        </p:nvSpPr>
        <p:spPr>
          <a:xfrm>
            <a:off x="6102213" y="1592263"/>
            <a:ext cx="5394462" cy="32932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CO" sz="1600" dirty="0" err="1">
                <a:solidFill>
                  <a:schemeClr val="accent5">
                    <a:lumMod val="85000"/>
                    <a:lumOff val="15000"/>
                  </a:schemeClr>
                </a:solidFill>
                <a:latin typeface="Work Sans Light Roman" pitchFamily="2" charset="77"/>
              </a:rPr>
              <a:t>Cliente / Atleta:</a:t>
            </a:r>
          </a:p>
          <a:p>
            <a:endParaRPr lang="es-CO" sz="1600" dirty="0">
              <a:solidFill>
                <a:schemeClr val="accent5">
                  <a:lumMod val="85000"/>
                  <a:lumOff val="15000"/>
                </a:schemeClr>
              </a:solidFill>
              <a:latin typeface="Work Sans Light Roman" pitchFamily="2" charset="77"/>
            </a:endParaRPr>
          </a:p>
          <a:p>
            <a:endParaRPr lang="es-CO" sz="1600" dirty="0">
              <a:solidFill>
                <a:schemeClr val="accent5">
                  <a:lumMod val="85000"/>
                  <a:lumOff val="15000"/>
                </a:schemeClr>
              </a:solidFill>
              <a:latin typeface="Work Sans Light Roman" pitchFamily="2" charset="77"/>
            </a:endParaRPr>
          </a:p>
          <a:p>
            <a:endParaRPr lang="es-CO" sz="1600" dirty="0">
              <a:solidFill>
                <a:schemeClr val="accent5">
                  <a:lumMod val="85000"/>
                  <a:lumOff val="15000"/>
                </a:schemeClr>
              </a:solidFill>
              <a:latin typeface="Work Sans Light Roman" pitchFamily="2" charset="77"/>
            </a:endParaRPr>
          </a:p>
          <a:p>
            <a:pPr marL="342900" indent="-342900">
              <a:buFont typeface="+mj-lt"/>
              <a:buAutoNum type="arabicPeriod"/>
            </a:pPr>
            <a:r>
              <a:rPr lang="es-CO" sz="1600" dirty="0" err="1">
                <a:solidFill>
                  <a:schemeClr val="accent5">
                    <a:lumMod val="85000"/>
                    <a:lumOff val="15000"/>
                  </a:schemeClr>
                </a:solidFill>
                <a:latin typeface="Work Sans Light Roman" pitchFamily="2" charset="77"/>
              </a:rPr>
              <a:t>Mantiene su membresía al día</a:t>
            </a:r>
          </a:p>
          <a:p>
            <a:pPr marL="342900" indent="-342900">
              <a:buFont typeface="+mj-lt"/>
              <a:buAutoNum type="arabicPeriod"/>
            </a:pPr>
            <a:r>
              <a:rPr lang="es-CO" sz="1600" dirty="0" err="1">
                <a:solidFill>
                  <a:schemeClr val="accent5">
                    <a:lumMod val="85000"/>
                    <a:lumOff val="15000"/>
                  </a:schemeClr>
                </a:solidFill>
                <a:latin typeface="Work Sans Light Roman" pitchFamily="2" charset="77"/>
              </a:rPr>
              <a:t>Registra su asistencia diaria</a:t>
            </a:r>
          </a:p>
          <a:p>
            <a:pPr marL="342900" indent="-342900">
              <a:buFont typeface="+mj-lt"/>
              <a:buAutoNum type="arabicPeriod"/>
            </a:pPr>
            <a:r>
              <a:rPr lang="es-CO" sz="1600" dirty="0" err="1">
                <a:solidFill>
                  <a:schemeClr val="accent5">
                    <a:lumMod val="85000"/>
                    <a:lumOff val="15000"/>
                  </a:schemeClr>
                </a:solidFill>
                <a:latin typeface="Work Sans Light Roman" pitchFamily="2" charset="77"/>
              </a:rPr>
              <a:t>Acceso de solo lectura a su historial</a:t>
            </a:r>
          </a:p>
        </p:txBody>
      </p:sp>
    </p:spTree>
    <p:extLst>
      <p:ext uri="{BB962C8B-B14F-4D97-AF65-F5344CB8AC3E}">
        <p14:creationId xmlns:p14="http://schemas.microsoft.com/office/powerpoint/2010/main" val="4580581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BB6F714C-A6B0-54AE-507A-D0700714D94B}"/>
              </a:ext>
            </a:extLst>
          </p:cNvPr>
          <p:cNvSpPr txBox="1">
            <a:spLocks/>
          </p:cNvSpPr>
          <p:nvPr/>
        </p:nvSpPr>
        <p:spPr>
          <a:xfrm>
            <a:off x="695325" y="416690"/>
            <a:ext cx="10142303" cy="527874"/>
          </a:xfrm>
          <a:prstGeom prst="rect">
            <a:avLst/>
          </a:prstGeom>
        </p:spPr>
        <p:txBody>
          <a:bodyPr lIns="0" tIns="0" r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3600" b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WORK SANS BOLD ROMAN" pitchFamily="2" charset="77"/>
              </a:rPr>
              <a:t>Requisitos Funcionales</a:t>
            </a: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F34F41D7-D1E2-1CA5-1156-215427D7E9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3148142"/>
              </p:ext>
            </p:extLst>
          </p:nvPr>
        </p:nvGraphicFramePr>
        <p:xfrm>
          <a:off x="2032000" y="1600200"/>
          <a:ext cx="8128002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170427874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14954731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420743305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19809064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6529208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12003544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algn="ctr"/>
                      <a:r>
                        <a:rPr lang="es-CO" sz="1400" b="0" i="0" dirty="0">
                          <a:latin typeface="WORK SANS REGULAR ROMAN" pitchFamily="2" charset="77"/>
                        </a:rPr>
                        <a:t>ID</a:t>
                      </a:r>
                    </a:p>
                  </a:txBody>
                  <a:tcPr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D4D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b="0" i="0" dirty="0">
                          <a:latin typeface="WORK SANS REGULAR ROMAN" pitchFamily="2" charset="77"/>
                        </a:rPr>
                        <a:t>Nombre</a:t>
                      </a:r>
                    </a:p>
                  </a:txBody>
                  <a:tcPr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D4D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b="0" i="0" dirty="0">
                          <a:latin typeface="WORK SANS REGULAR ROMAN" pitchFamily="2" charset="77"/>
                        </a:rPr>
                        <a:t>Actor Principal</a:t>
                      </a:r>
                    </a:p>
                  </a:txBody>
                  <a:tcPr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D4D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b="0" i="0" dirty="0">
                          <a:latin typeface="WORK SANS REGULAR ROMAN" pitchFamily="2" charset="77"/>
                        </a:rPr>
                        <a:t>Módulo / Entidad</a:t>
                      </a:r>
                    </a:p>
                  </a:txBody>
                  <a:tcPr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D4D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b="0" i="0" dirty="0">
                          <a:latin typeface="WORK SANS REGULAR ROMAN" pitchFamily="2" charset="77"/>
                        </a:rPr>
                        <a:t>Caso de Uso</a:t>
                      </a:r>
                    </a:p>
                  </a:txBody>
                  <a:tcPr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D4D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400" b="0" i="0" dirty="0">
                          <a:latin typeface="WORK SANS REGULAR ROMAN" pitchFamily="2" charset="77"/>
                        </a:rPr>
                        <a:t>Evidencia</a:t>
                      </a:r>
                    </a:p>
                  </a:txBody>
                  <a:tcPr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D4D4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358905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lang="es-CO" sz="1300" b="0" i="0" dirty="0">
                          <a:solidFill>
                            <a:srgbClr val="333333"/>
                          </a:solidFill>
                          <a:latin typeface="WORK SANS LIGHT ROMAN" pitchFamily="2" charset="77"/>
                        </a:rPr>
                        <a:t>RF-001</a:t>
                      </a:r>
                    </a:p>
                  </a:txBody>
                  <a:tcPr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300" b="0" i="0" dirty="0">
                          <a:solidFill>
                            <a:srgbClr val="333333"/>
                          </a:solidFill>
                          <a:latin typeface="WORK SANS LIGHT ROMAN" pitchFamily="2" charset="77"/>
                        </a:rPr>
                        <a:t>Autenticación de Usuarios</a:t>
                      </a:r>
                    </a:p>
                  </a:txBody>
                  <a:tcPr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300" b="0" i="0">
                          <a:solidFill>
                            <a:srgbClr val="333333"/>
                          </a:solidFill>
                          <a:latin typeface="WORK SANS LIGHT ROMAN" pitchFamily="2" charset="77"/>
                        </a:rPr>
                        <a:t>Admin. / Cliente</a:t>
                      </a:r>
                      <a:endParaRPr lang="es-CO" sz="1400" b="0" i="0" dirty="0">
                        <a:solidFill>
                          <a:schemeClr val="accent5">
                            <a:lumMod val="85000"/>
                            <a:lumOff val="15000"/>
                          </a:schemeClr>
                        </a:solidFill>
                        <a:latin typeface="WORK SANS LIGHT ROMAN" pitchFamily="2" charset="77"/>
                      </a:endParaRPr>
                    </a:p>
                  </a:txBody>
                  <a:tcPr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300" b="0" i="0" dirty="0">
                          <a:solidFill>
                            <a:srgbClr val="333333"/>
                          </a:solidFill>
                          <a:latin typeface="WORK SANS LIGHT ROMAN" pitchFamily="2" charset="77"/>
                        </a:rPr>
                        <a:t>Tabla usuarios</a:t>
                      </a:r>
                    </a:p>
                  </a:txBody>
                  <a:tcPr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300" b="0" i="0" dirty="0">
                          <a:solidFill>
                            <a:srgbClr val="333333"/>
                          </a:solidFill>
                          <a:latin typeface="WORK SANS LIGHT ROMAN" pitchFamily="2" charset="77"/>
                        </a:rPr>
                        <a:t>Iniciar Sesión</a:t>
                      </a:r>
                    </a:p>
                  </a:txBody>
                  <a:tcPr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300" b="0" i="0" dirty="0">
                          <a:solidFill>
                            <a:srgbClr val="333333"/>
                          </a:solidFill>
                          <a:latin typeface="WORK SANS LIGHT ROMAN" pitchFamily="2" charset="77"/>
                        </a:rPr>
                        <a:t>Automatización TestNG</a:t>
                      </a:r>
                    </a:p>
                  </a:txBody>
                  <a:tcPr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6320209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RF-002</a:t>
                      </a:r>
                      <a:endParaRPr lang="es-CO" sz="1400" b="0" i="0">
                        <a:latin typeface="WORK SANS REGULAR ROMAN" pitchFamily="2" charset="77"/>
                      </a:endParaRPr>
                    </a:p>
                  </a:txBody>
                  <a:tcPr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Registro de Clientes</a:t>
                      </a:r>
                      <a:endParaRPr lang="es-CO" sz="1400" b="0" i="0">
                        <a:latin typeface="WORK SANS REGULAR ROMAN" pitchFamily="2" charset="77"/>
                      </a:endParaRPr>
                    </a:p>
                  </a:txBody>
                  <a:tcPr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Administrador</a:t>
                      </a:r>
                      <a:endParaRPr lang="es-CO" sz="1400" b="0" i="0" dirty="0">
                        <a:latin typeface="WORK SANS REGULAR ROMAN" pitchFamily="2" charset="77"/>
                      </a:endParaRPr>
                    </a:p>
                  </a:txBody>
                  <a:tcPr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ValidadorRegistro.java</a:t>
                      </a:r>
                      <a:endParaRPr lang="es-CO" sz="1400" b="0" i="0">
                        <a:latin typeface="WORK SANS REGULAR ROMAN" pitchFamily="2" charset="77"/>
                      </a:endParaRPr>
                    </a:p>
                  </a:txBody>
                  <a:tcPr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Registrar Usuario</a:t>
                      </a:r>
                      <a:endParaRPr lang="es-CO" sz="1400" b="0" i="0">
                        <a:latin typeface="WORK SANS REGULAR ROMAN" pitchFamily="2" charset="77"/>
                      </a:endParaRPr>
                    </a:p>
                  </a:txBody>
                  <a:tcPr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Pruebas unitarias JUnit</a:t>
                      </a:r>
                      <a:endParaRPr lang="es-CO" sz="1400" b="0" i="0" dirty="0">
                        <a:latin typeface="WORK SANS REGULAR ROMAN" pitchFamily="2" charset="77"/>
                      </a:endParaRPr>
                    </a:p>
                  </a:txBody>
                  <a:tcPr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0989689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RF-003</a:t>
                      </a:r>
                      <a:endParaRPr lang="es-CO" sz="1400" b="0" i="0" dirty="0">
                        <a:latin typeface="WORK SANS REGULAR ROMAN" pitchFamily="2" charset="77"/>
                      </a:endParaRPr>
                    </a:p>
                  </a:txBody>
                  <a:tcPr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Control de Asistencia</a:t>
                      </a:r>
                      <a:endParaRPr lang="es-CO" sz="1400" b="0" i="0" dirty="0">
                        <a:latin typeface="WORK SANS REGULAR ROMAN" pitchFamily="2" charset="77"/>
                      </a:endParaRPr>
                    </a:p>
                  </a:txBody>
                  <a:tcPr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Cliente</a:t>
                      </a:r>
                      <a:endParaRPr lang="es-CO" sz="1400" b="0" i="0">
                        <a:latin typeface="WORK SANS REGULAR ROMAN" pitchFamily="2" charset="77"/>
                      </a:endParaRPr>
                    </a:p>
                  </a:txBody>
                  <a:tcPr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Tabla asistencias</a:t>
                      </a:r>
                      <a:endParaRPr lang="es-CO" sz="1400" b="0" i="0" dirty="0">
                        <a:latin typeface="WORK SANS REGULAR ROMAN" pitchFamily="2" charset="77"/>
                      </a:endParaRPr>
                    </a:p>
                  </a:txBody>
                  <a:tcPr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Controlar Asistencia</a:t>
                      </a:r>
                      <a:endParaRPr lang="es-CO" sz="1400" b="0" i="0">
                        <a:latin typeface="WORK SANS REGULAR ROMAN" pitchFamily="2" charset="77"/>
                      </a:endParaRPr>
                    </a:p>
                  </a:txBody>
                  <a:tcPr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Reporte JMeter (100 hilos)</a:t>
                      </a:r>
                      <a:endParaRPr lang="es-CO" sz="1400" b="0" i="0" dirty="0">
                        <a:latin typeface="WORK SANS REGULAR ROMAN" pitchFamily="2" charset="77"/>
                      </a:endParaRPr>
                    </a:p>
                  </a:txBody>
                  <a:tcPr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9142149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RF-004</a:t>
                      </a:r>
                      <a:endParaRPr lang="es-CO" sz="1400" b="0" i="0" dirty="0">
                        <a:latin typeface="WORK SANS REGULAR ROMAN" pitchFamily="2" charset="77"/>
                      </a:endParaRPr>
                    </a:p>
                  </a:txBody>
                  <a:tcPr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Facturación de Membresías</a:t>
                      </a:r>
                      <a:endParaRPr lang="es-CO" sz="1400" b="0" i="0" dirty="0">
                        <a:latin typeface="WORK SANS REGULAR ROMAN" pitchFamily="2" charset="77"/>
                      </a:endParaRPr>
                    </a:p>
                  </a:txBody>
                  <a:tcPr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Administrador</a:t>
                      </a:r>
                      <a:endParaRPr lang="es-CO" sz="1400" b="0" i="0" dirty="0">
                        <a:latin typeface="WORK SANS REGULAR ROMAN" pitchFamily="2" charset="77"/>
                      </a:endParaRPr>
                    </a:p>
                  </a:txBody>
                  <a:tcPr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fact_cabecera / fact_detallada</a:t>
                      </a:r>
                      <a:endParaRPr lang="es-CO" sz="1400" b="0" i="0" dirty="0">
                        <a:latin typeface="WORK SANS REGULAR ROMAN" pitchFamily="2" charset="77"/>
                      </a:endParaRPr>
                    </a:p>
                  </a:txBody>
                  <a:tcPr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Facturar Membresía</a:t>
                      </a:r>
                      <a:endParaRPr lang="es-CO" sz="1400" b="0" i="0" dirty="0">
                        <a:latin typeface="WORK SANS REGULAR ROMAN" pitchFamily="2" charset="77"/>
                      </a:endParaRPr>
                    </a:p>
                  </a:txBody>
                  <a:tcPr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33333"/>
                          </a:solidFill>
                        </a:rPr>
                        <a:t>Pruebas de integración</a:t>
                      </a:r>
                      <a:endParaRPr lang="es-CO" sz="1400" b="0" i="0" dirty="0">
                        <a:latin typeface="WORK SANS REGULAR ROMAN" pitchFamily="2" charset="77"/>
                      </a:endParaRPr>
                    </a:p>
                  </a:txBody>
                  <a:tcPr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82773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92924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CE75F1-F343-8856-BC69-4BB6B82BF3E4}"/>
              </a:ext>
            </a:extLst>
          </p:cNvPr>
          <p:cNvSpPr txBox="1">
            <a:spLocks/>
          </p:cNvSpPr>
          <p:nvPr/>
        </p:nvSpPr>
        <p:spPr>
          <a:xfrm>
            <a:off x="695325" y="944563"/>
            <a:ext cx="10515600" cy="402295"/>
          </a:xfrm>
          <a:prstGeom prst="rect">
            <a:avLst/>
          </a:prstGeom>
          <a:ln>
            <a:noFill/>
          </a:ln>
        </p:spPr>
        <p:txBody>
          <a:bodyPr lIns="0" tIns="0" r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2700" b="1" u="none" strike="noStrike" kern="1200" cap="none" spc="0" normalizeH="0" baseline="0" noProof="0" dirty="0">
                <a:ln>
                  <a:noFill/>
                </a:ln>
                <a:solidFill>
                  <a:srgbClr val="4D4D4C"/>
                </a:solidFill>
                <a:effectLst/>
                <a:uLnTx/>
                <a:uFillTx/>
                <a:latin typeface="WORK SANS BOLD ROMAN" pitchFamily="2" charset="77"/>
              </a:rPr>
              <a:t>Requisitos No Funcionales y Reglas de Negocio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6C31FC2-6C63-0CB9-C78D-1723D5E9DD66}"/>
              </a:ext>
            </a:extLst>
          </p:cNvPr>
          <p:cNvSpPr txBox="1"/>
          <p:nvPr/>
        </p:nvSpPr>
        <p:spPr>
          <a:xfrm>
            <a:off x="695326" y="1592263"/>
            <a:ext cx="4717774" cy="369331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CO" sz="1600" dirty="0" err="1">
                <a:solidFill>
                  <a:schemeClr val="accent5">
                    <a:lumMod val="85000"/>
                    <a:lumOff val="15000"/>
                  </a:schemeClr>
                </a:solidFill>
                <a:latin typeface="Work Sans Light Roman" pitchFamily="2" charset="77"/>
              </a:rPr>
              <a:t>No funcionales clave:</a:t>
            </a:r>
          </a:p>
          <a:p>
            <a:endParaRPr lang="es-CO" sz="1600" dirty="0">
              <a:solidFill>
                <a:schemeClr val="accent5">
                  <a:lumMod val="85000"/>
                  <a:lumOff val="15000"/>
                </a:schemeClr>
              </a:solidFill>
              <a:latin typeface="Work Sans Light Roman" pitchFamily="2" charset="77"/>
            </a:endParaRPr>
          </a:p>
          <a:p>
            <a:endParaRPr lang="es-CO" sz="1600" dirty="0">
              <a:solidFill>
                <a:schemeClr val="accent5">
                  <a:lumMod val="85000"/>
                  <a:lumOff val="15000"/>
                </a:schemeClr>
              </a:solidFill>
              <a:latin typeface="Work Sans Light Roman" pitchFamily="2" charset="77"/>
            </a:endParaRPr>
          </a:p>
          <a:p>
            <a:endParaRPr lang="es-CO" sz="1600" dirty="0">
              <a:solidFill>
                <a:schemeClr val="accent5">
                  <a:lumMod val="85000"/>
                  <a:lumOff val="15000"/>
                </a:schemeClr>
              </a:solidFill>
              <a:latin typeface="Work Sans Light Roman" pitchFamily="2" charset="77"/>
            </a:endParaRP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s-CO" sz="1600" dirty="0" err="1">
                <a:solidFill>
                  <a:schemeClr val="accent5">
                    <a:lumMod val="85000"/>
                    <a:lumOff val="15000"/>
                  </a:schemeClr>
                </a:solidFill>
                <a:latin typeface="Work Sans Light Roman" pitchFamily="2" charset="77"/>
              </a:rPr>
              <a:t>Rendimiento: 100 usuarios concurrentes, 0% error</a:t>
            </a: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s-CO" sz="1600" dirty="0" err="1">
                <a:solidFill>
                  <a:schemeClr val="accent5">
                    <a:lumMod val="85000"/>
                    <a:lumOff val="15000"/>
                  </a:schemeClr>
                </a:solidFill>
                <a:latin typeface="Work Sans Light Roman" pitchFamily="2" charset="77"/>
              </a:rPr>
              <a:t>Seguridad: hash BCrypt/PBKDF2 + PreparedStatement</a:t>
            </a: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s-CO" sz="1600" dirty="0" err="1">
                <a:solidFill>
                  <a:schemeClr val="accent5">
                    <a:lumMod val="85000"/>
                    <a:lumOff val="15000"/>
                  </a:schemeClr>
                </a:solidFill>
                <a:latin typeface="Work Sans Light Roman" pitchFamily="2" charset="77"/>
              </a:rPr>
              <a:t>Disponibilidad: Cloud Azure App Service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9A9B9AD-98C5-3207-38A3-E41FED9161AC}"/>
              </a:ext>
            </a:extLst>
          </p:cNvPr>
          <p:cNvSpPr txBox="1"/>
          <p:nvPr/>
        </p:nvSpPr>
        <p:spPr>
          <a:xfrm>
            <a:off x="6102213" y="1592263"/>
            <a:ext cx="5394462" cy="32932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CO" sz="1600" dirty="0" err="1">
                <a:solidFill>
                  <a:schemeClr val="accent5">
                    <a:lumMod val="85000"/>
                    <a:lumOff val="15000"/>
                  </a:schemeClr>
                </a:solidFill>
                <a:latin typeface="Work Sans Light Roman" pitchFamily="2" charset="77"/>
              </a:rPr>
              <a:t>Reglas de negocio:</a:t>
            </a:r>
          </a:p>
          <a:p>
            <a:endParaRPr lang="es-CO" sz="1600" dirty="0">
              <a:solidFill>
                <a:schemeClr val="accent5">
                  <a:lumMod val="85000"/>
                  <a:lumOff val="15000"/>
                </a:schemeClr>
              </a:solidFill>
              <a:latin typeface="Work Sans Light Roman" pitchFamily="2" charset="77"/>
            </a:endParaRPr>
          </a:p>
          <a:p>
            <a:endParaRPr lang="es-CO" sz="1600" dirty="0">
              <a:solidFill>
                <a:schemeClr val="accent5">
                  <a:lumMod val="85000"/>
                  <a:lumOff val="15000"/>
                </a:schemeClr>
              </a:solidFill>
              <a:latin typeface="Work Sans Light Roman" pitchFamily="2" charset="77"/>
            </a:endParaRPr>
          </a:p>
          <a:p>
            <a:endParaRPr lang="es-CO" sz="1600" dirty="0">
              <a:solidFill>
                <a:schemeClr val="accent5">
                  <a:lumMod val="85000"/>
                  <a:lumOff val="15000"/>
                </a:schemeClr>
              </a:solidFill>
              <a:latin typeface="Work Sans Light Roman" pitchFamily="2" charset="77"/>
            </a:endParaRPr>
          </a:p>
          <a:p>
            <a:pPr marL="342900" indent="-342900">
              <a:buFont typeface="+mj-lt"/>
              <a:buAutoNum type="arabicPeriod"/>
            </a:pPr>
            <a:r>
              <a:rPr lang="es-CO" sz="1600" dirty="0" err="1">
                <a:solidFill>
                  <a:schemeClr val="accent5">
                    <a:lumMod val="85000"/>
                    <a:lumOff val="15000"/>
                  </a:schemeClr>
                </a:solidFill>
                <a:latin typeface="Work Sans Light Roman" pitchFamily="2" charset="77"/>
              </a:rPr>
              <a:t>RN-001: sin membresía vigente no hay acceso</a:t>
            </a:r>
          </a:p>
          <a:p>
            <a:pPr marL="342900" indent="-342900">
              <a:buFont typeface="+mj-lt"/>
              <a:buAutoNum type="arabicPeriod"/>
            </a:pPr>
            <a:r>
              <a:rPr lang="es-CO" sz="1600" dirty="0" err="1">
                <a:solidFill>
                  <a:schemeClr val="accent5">
                    <a:lumMod val="85000"/>
                    <a:lumOff val="15000"/>
                  </a:schemeClr>
                </a:solidFill>
                <a:latin typeface="Work Sans Light Roman" pitchFamily="2" charset="77"/>
              </a:rPr>
              <a:t>RN-002: la rutina exige evaluación física previa</a:t>
            </a:r>
          </a:p>
          <a:p>
            <a:pPr marL="342900" indent="-342900">
              <a:buFont typeface="+mj-lt"/>
              <a:buAutoNum type="arabicPeriod"/>
            </a:pPr>
            <a:r>
              <a:rPr lang="es-CO" sz="1600" dirty="0" err="1">
                <a:solidFill>
                  <a:schemeClr val="accent5">
                    <a:lumMod val="85000"/>
                    <a:lumOff val="15000"/>
                  </a:schemeClr>
                </a:solidFill>
                <a:latin typeface="Work Sans Light Roman" pitchFamily="2" charset="77"/>
              </a:rPr>
              <a:t>RN-003: no se vende sin stock disponible</a:t>
            </a:r>
          </a:p>
        </p:txBody>
      </p:sp>
    </p:spTree>
    <p:extLst>
      <p:ext uri="{BB962C8B-B14F-4D97-AF65-F5344CB8AC3E}">
        <p14:creationId xmlns:p14="http://schemas.microsoft.com/office/powerpoint/2010/main" val="4580581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951D1C-ACAB-30A9-933A-FC96DF28A2F0}"/>
              </a:ext>
            </a:extLst>
          </p:cNvPr>
          <p:cNvSpPr txBox="1">
            <a:spLocks/>
          </p:cNvSpPr>
          <p:nvPr/>
        </p:nvSpPr>
        <p:spPr>
          <a:xfrm>
            <a:off x="695325" y="2120265"/>
            <a:ext cx="5120640" cy="405598"/>
          </a:xfrm>
          <a:prstGeom prst="rect">
            <a:avLst/>
          </a:prstGeom>
        </p:spPr>
        <p:txBody>
          <a:bodyPr lIns="0" tIns="0" r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2200" b="1" dirty="0">
                <a:solidFill>
                  <a:srgbClr val="38AA00"/>
                </a:solidFill>
                <a:latin typeface="WORK SANS BOLD ROMAN" pitchFamily="2" charset="77"/>
              </a:rPr>
              <a:t>CU-01: Registrar Usuario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F6697F3-B1A3-FADB-1243-D89866428CB1}"/>
              </a:ext>
            </a:extLst>
          </p:cNvPr>
          <p:cNvSpPr txBox="1"/>
          <p:nvPr/>
        </p:nvSpPr>
        <p:spPr>
          <a:xfrm>
            <a:off x="695325" y="3063240"/>
            <a:ext cx="3854368" cy="196977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CO" sz="1600" dirty="0" err="1">
                <a:solidFill>
                  <a:schemeClr val="accent5">
                    <a:lumMod val="85000"/>
                    <a:lumOff val="15000"/>
                  </a:schemeClr>
                </a:solidFill>
                <a:latin typeface="Work Sans Light Roman" pitchFamily="2" charset="77"/>
              </a:rPr>
              <a:t>Permite al administrador registrar un nuevo socio en el sistema.</a:t>
            </a:r>
          </a:p>
          <a:p>
            <a:endParaRPr lang="es-CO" sz="1600" dirty="0">
              <a:solidFill>
                <a:schemeClr val="accent5">
                  <a:lumMod val="85000"/>
                  <a:lumOff val="15000"/>
                </a:schemeClr>
              </a:solidFill>
              <a:latin typeface="Work Sans Light Roman" pitchFamily="2" charset="77"/>
            </a:endParaRPr>
          </a:p>
          <a:p>
            <a:pPr marL="342900" indent="-342900">
              <a:buFont typeface="+mj-lt"/>
              <a:buAutoNum type="arabicPeriod"/>
            </a:pPr>
            <a:r>
              <a:rPr lang="es-CO" sz="1600" dirty="0" err="1">
                <a:solidFill>
                  <a:schemeClr val="accent5">
                    <a:lumMod val="85000"/>
                    <a:lumOff val="15000"/>
                  </a:schemeClr>
                </a:solidFill>
                <a:latin typeface="Work Sans Light Roman" pitchFamily="2" charset="77"/>
              </a:rPr>
              <a:t>Solicitar datos personales y de membresía</a:t>
            </a:r>
          </a:p>
          <a:p>
            <a:pPr marL="342900" indent="-342900">
              <a:buFont typeface="+mj-lt"/>
              <a:buAutoNum type="arabicPeriod"/>
            </a:pPr>
            <a:r>
              <a:rPr lang="es-CO" sz="1600" dirty="0" err="1">
                <a:solidFill>
                  <a:schemeClr val="accent5">
                    <a:lumMod val="85000"/>
                    <a:lumOff val="15000"/>
                  </a:schemeClr>
                </a:solidFill>
                <a:latin typeface="Work Sans Light Roman" pitchFamily="2" charset="77"/>
              </a:rPr>
              <a:t>Ingresar y validar los datos</a:t>
            </a:r>
          </a:p>
          <a:p>
            <a:pPr marL="342900" indent="-342900">
              <a:buFont typeface="+mj-lt"/>
              <a:buAutoNum type="arabicPeriod"/>
            </a:pPr>
            <a:r>
              <a:rPr lang="es-CO" sz="1600" dirty="0" err="1">
                <a:solidFill>
                  <a:schemeClr val="accent5">
                    <a:lumMod val="85000"/>
                    <a:lumOff val="15000"/>
                  </a:schemeClr>
                </a:solidFill>
                <a:latin typeface="Work Sans Light Roman" pitchFamily="2" charset="77"/>
              </a:rPr>
              <a:t>Guardar el registro y mostrar mensaje de éxito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C54AB6E-C29A-94B8-B3E2-44C7228AEFBE}"/>
              </a:ext>
            </a:extLst>
          </p:cNvPr>
          <p:cNvSpPr txBox="1"/>
          <p:nvPr/>
        </p:nvSpPr>
        <p:spPr>
          <a:xfrm>
            <a:off x="6096000" y="5940487"/>
            <a:ext cx="6096000" cy="917513"/>
          </a:xfrm>
          <a:prstGeom prst="rect">
            <a:avLst/>
          </a:prstGeom>
          <a:solidFill>
            <a:schemeClr val="accent5">
              <a:alpha val="68057"/>
            </a:schemeClr>
          </a:solidFill>
        </p:spPr>
        <p:txBody>
          <a:bodyPr wrap="square" lIns="216000" tIns="180000" rIns="216000" bIns="180000" rtlCol="0">
            <a:spAutoFit/>
          </a:bodyPr>
          <a:lstStyle/>
          <a:p>
            <a:pPr algn="ctr"/>
            <a:r>
              <a:rPr lang="es-CO" sz="12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WORK SANS BOLD ROMAN" pitchFamily="2" charset="77"/>
              </a:rPr>
              <a:t>Figura 1. Diagrama de caso de uso CU-01: Registrar Usuario.</a:t>
            </a:r>
          </a:p>
        </p:txBody>
      </p:sp>
      <p:pic>
        <p:nvPicPr>
          <p:cNvPr id="12" name="Picture 11" descr="cu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285444"/>
            <a:ext cx="6096000" cy="2291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0001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951D1C-ACAB-30A9-933A-FC96DF28A2F0}"/>
              </a:ext>
            </a:extLst>
          </p:cNvPr>
          <p:cNvSpPr txBox="1">
            <a:spLocks/>
          </p:cNvSpPr>
          <p:nvPr/>
        </p:nvSpPr>
        <p:spPr>
          <a:xfrm>
            <a:off x="695325" y="2120265"/>
            <a:ext cx="5120640" cy="405598"/>
          </a:xfrm>
          <a:prstGeom prst="rect">
            <a:avLst/>
          </a:prstGeom>
        </p:spPr>
        <p:txBody>
          <a:bodyPr lIns="0" tIns="0" r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2200" b="1" dirty="0">
                <a:solidFill>
                  <a:srgbClr val="38AA00"/>
                </a:solidFill>
                <a:latin typeface="WORK SANS BOLD ROMAN" pitchFamily="2" charset="77"/>
              </a:rPr>
              <a:t>CU-02: Controlar Asistencia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F6697F3-B1A3-FADB-1243-D89866428CB1}"/>
              </a:ext>
            </a:extLst>
          </p:cNvPr>
          <p:cNvSpPr txBox="1"/>
          <p:nvPr/>
        </p:nvSpPr>
        <p:spPr>
          <a:xfrm>
            <a:off x="695325" y="3063240"/>
            <a:ext cx="3854368" cy="196977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CO" sz="1600" dirty="0" err="1">
                <a:solidFill>
                  <a:schemeClr val="accent5">
                    <a:lumMod val="85000"/>
                    <a:lumOff val="15000"/>
                  </a:schemeClr>
                </a:solidFill>
                <a:latin typeface="Work Sans Light Roman" pitchFamily="2" charset="77"/>
              </a:rPr>
              <a:t>Valida la vigencia de la membresía del cliente al momento del ingreso.</a:t>
            </a:r>
          </a:p>
          <a:p>
            <a:endParaRPr lang="es-CO" sz="1600" dirty="0">
              <a:solidFill>
                <a:schemeClr val="accent5">
                  <a:lumMod val="85000"/>
                  <a:lumOff val="15000"/>
                </a:schemeClr>
              </a:solidFill>
              <a:latin typeface="Work Sans Light Roman" pitchFamily="2" charset="77"/>
            </a:endParaRPr>
          </a:p>
          <a:p>
            <a:pPr marL="342900" indent="-342900">
              <a:buFont typeface="+mj-lt"/>
              <a:buAutoNum type="arabicPeriod"/>
            </a:pPr>
            <a:r>
              <a:rPr lang="es-CO" sz="1600" dirty="0" err="1">
                <a:solidFill>
                  <a:schemeClr val="accent5">
                    <a:lumMod val="85000"/>
                    <a:lumOff val="15000"/>
                  </a:schemeClr>
                </a:solidFill>
                <a:latin typeface="Work Sans Light Roman" pitchFamily="2" charset="77"/>
              </a:rPr>
              <a:t>Identificar cliente por documento</a:t>
            </a:r>
          </a:p>
          <a:p>
            <a:pPr marL="342900" indent="-342900">
              <a:buFont typeface="+mj-lt"/>
              <a:buAutoNum type="arabicPeriod"/>
            </a:pPr>
            <a:r>
              <a:rPr lang="es-CO" sz="1600" dirty="0" err="1">
                <a:solidFill>
                  <a:schemeClr val="accent5">
                    <a:lumMod val="85000"/>
                    <a:lumOff val="15000"/>
                  </a:schemeClr>
                </a:solidFill>
                <a:latin typeface="Work Sans Light Roman" pitchFamily="2" charset="77"/>
              </a:rPr>
              <a:t>Registrar fecha y hora de ingreso</a:t>
            </a:r>
          </a:p>
          <a:p>
            <a:pPr marL="342900" indent="-342900">
              <a:buFont typeface="+mj-lt"/>
              <a:buAutoNum type="arabicPeriod"/>
            </a:pPr>
            <a:r>
              <a:rPr lang="es-CO" sz="1600" dirty="0" err="1">
                <a:solidFill>
                  <a:schemeClr val="accent5">
                    <a:lumMod val="85000"/>
                    <a:lumOff val="15000"/>
                  </a:schemeClr>
                </a:solidFill>
                <a:latin typeface="Work Sans Light Roman" pitchFamily="2" charset="77"/>
              </a:rPr>
              <a:t>Actualizar historial de asistencia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C54AB6E-C29A-94B8-B3E2-44C7228AEFBE}"/>
              </a:ext>
            </a:extLst>
          </p:cNvPr>
          <p:cNvSpPr txBox="1"/>
          <p:nvPr/>
        </p:nvSpPr>
        <p:spPr>
          <a:xfrm>
            <a:off x="6096000" y="5940487"/>
            <a:ext cx="6096000" cy="917513"/>
          </a:xfrm>
          <a:prstGeom prst="rect">
            <a:avLst/>
          </a:prstGeom>
          <a:solidFill>
            <a:schemeClr val="accent5">
              <a:alpha val="68057"/>
            </a:schemeClr>
          </a:solidFill>
        </p:spPr>
        <p:txBody>
          <a:bodyPr wrap="square" lIns="216000" tIns="180000" rIns="216000" bIns="180000" rtlCol="0">
            <a:spAutoFit/>
          </a:bodyPr>
          <a:lstStyle/>
          <a:p>
            <a:pPr algn="ctr"/>
            <a:r>
              <a:rPr lang="es-CO" sz="12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WORK SANS BOLD ROMAN" pitchFamily="2" charset="77"/>
              </a:rPr>
              <a:t>Figura 2. Diagrama de caso de uso CU-02 (con flujo alternativo A2).</a:t>
            </a:r>
          </a:p>
        </p:txBody>
      </p:sp>
      <p:pic>
        <p:nvPicPr>
          <p:cNvPr id="12" name="Picture 11" descr="cu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961249"/>
            <a:ext cx="6096000" cy="2939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0001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CE75F1-F343-8856-BC69-4BB6B82BF3E4}"/>
              </a:ext>
            </a:extLst>
          </p:cNvPr>
          <p:cNvSpPr txBox="1">
            <a:spLocks/>
          </p:cNvSpPr>
          <p:nvPr/>
        </p:nvSpPr>
        <p:spPr>
          <a:xfrm>
            <a:off x="695325" y="944563"/>
            <a:ext cx="7315200" cy="402295"/>
          </a:xfrm>
          <a:prstGeom prst="rect">
            <a:avLst/>
          </a:prstGeom>
          <a:ln>
            <a:noFill/>
          </a:ln>
        </p:spPr>
        <p:txBody>
          <a:bodyPr lIns="0" tIns="0" r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3600" b="1" u="none" strike="noStrike" kern="1200" cap="none" spc="0" normalizeH="0" baseline="0" noProof="0" dirty="0">
                <a:ln>
                  <a:noFill/>
                </a:ln>
                <a:solidFill>
                  <a:srgbClr val="4D4D4C"/>
                </a:solidFill>
                <a:effectLst/>
                <a:uLnTx/>
                <a:uFillTx/>
                <a:latin typeface="WORK SANS BOLD ROMAN" pitchFamily="2" charset="77"/>
              </a:rPr>
              <a:t>Historias de Usuario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6C31FC2-6C63-0CB9-C78D-1723D5E9DD66}"/>
              </a:ext>
            </a:extLst>
          </p:cNvPr>
          <p:cNvSpPr txBox="1"/>
          <p:nvPr/>
        </p:nvSpPr>
        <p:spPr>
          <a:xfrm>
            <a:off x="695326" y="1592263"/>
            <a:ext cx="4717774" cy="369331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CO" sz="1600" dirty="0" err="1">
                <a:solidFill>
                  <a:schemeClr val="accent5">
                    <a:lumMod val="85000"/>
                    <a:lumOff val="15000"/>
                  </a:schemeClr>
                </a:solidFill>
                <a:latin typeface="Work Sans Light Roman" pitchFamily="2" charset="77"/>
              </a:rPr>
              <a:t>HU-01 · Control de Acceso en Recepción:</a:t>
            </a:r>
          </a:p>
          <a:p>
            <a:endParaRPr lang="es-CO" sz="1600" dirty="0">
              <a:solidFill>
                <a:schemeClr val="accent5">
                  <a:lumMod val="85000"/>
                  <a:lumOff val="15000"/>
                </a:schemeClr>
              </a:solidFill>
              <a:latin typeface="Work Sans Light Roman" pitchFamily="2" charset="77"/>
            </a:endParaRPr>
          </a:p>
          <a:p>
            <a:endParaRPr lang="es-CO" sz="1600" dirty="0">
              <a:solidFill>
                <a:schemeClr val="accent5">
                  <a:lumMod val="85000"/>
                  <a:lumOff val="15000"/>
                </a:schemeClr>
              </a:solidFill>
              <a:latin typeface="Work Sans Light Roman" pitchFamily="2" charset="77"/>
            </a:endParaRPr>
          </a:p>
          <a:p>
            <a:endParaRPr lang="es-CO" sz="1600" dirty="0">
              <a:solidFill>
                <a:schemeClr val="accent5">
                  <a:lumMod val="85000"/>
                  <a:lumOff val="15000"/>
                </a:schemeClr>
              </a:solidFill>
              <a:latin typeface="Work Sans Light Roman" pitchFamily="2" charset="77"/>
            </a:endParaRP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s-CO" sz="1600" dirty="0" err="1">
                <a:solidFill>
                  <a:schemeClr val="accent5">
                    <a:lumMod val="85000"/>
                    <a:lumOff val="15000"/>
                  </a:schemeClr>
                </a:solidFill>
                <a:latin typeface="Work Sans Light Roman" pitchFamily="2" charset="77"/>
              </a:rPr>
              <a:t>Como recepcionista, digito el documento del socio</a:t>
            </a: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s-CO" sz="1600" dirty="0" err="1">
                <a:solidFill>
                  <a:schemeClr val="accent5">
                    <a:lumMod val="85000"/>
                    <a:lumOff val="15000"/>
                  </a:schemeClr>
                </a:solidFill>
                <a:latin typeface="Work Sans Light Roman" pitchFamily="2" charset="77"/>
              </a:rPr>
              <a:t>Si la membresía es vigente, se registra el ingreso</a:t>
            </a: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s-CO" sz="1600" dirty="0" err="1">
                <a:solidFill>
                  <a:schemeClr val="accent5">
                    <a:lumMod val="85000"/>
                    <a:lumOff val="15000"/>
                  </a:schemeClr>
                </a:solidFill>
                <a:latin typeface="Work Sans Light Roman" pitchFamily="2" charset="77"/>
              </a:rPr>
              <a:t>Si está vencida, se bloquea el acceso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9A9B9AD-98C5-3207-38A3-E41FED9161AC}"/>
              </a:ext>
            </a:extLst>
          </p:cNvPr>
          <p:cNvSpPr txBox="1"/>
          <p:nvPr/>
        </p:nvSpPr>
        <p:spPr>
          <a:xfrm>
            <a:off x="6102213" y="1592263"/>
            <a:ext cx="5394462" cy="329320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CO" sz="1600" dirty="0" err="1">
                <a:solidFill>
                  <a:schemeClr val="accent5">
                    <a:lumMod val="85000"/>
                    <a:lumOff val="15000"/>
                  </a:schemeClr>
                </a:solidFill>
                <a:latin typeface="Work Sans Light Roman" pitchFamily="2" charset="77"/>
              </a:rPr>
              <a:t>HU-02 · Facturación y Renovación de Planes:</a:t>
            </a:r>
          </a:p>
          <a:p>
            <a:endParaRPr lang="es-CO" sz="1600" dirty="0">
              <a:solidFill>
                <a:schemeClr val="accent5">
                  <a:lumMod val="85000"/>
                  <a:lumOff val="15000"/>
                </a:schemeClr>
              </a:solidFill>
              <a:latin typeface="Work Sans Light Roman" pitchFamily="2" charset="77"/>
            </a:endParaRPr>
          </a:p>
          <a:p>
            <a:endParaRPr lang="es-CO" sz="1600" dirty="0">
              <a:solidFill>
                <a:schemeClr val="accent5">
                  <a:lumMod val="85000"/>
                  <a:lumOff val="15000"/>
                </a:schemeClr>
              </a:solidFill>
              <a:latin typeface="Work Sans Light Roman" pitchFamily="2" charset="77"/>
            </a:endParaRPr>
          </a:p>
          <a:p>
            <a:endParaRPr lang="es-CO" sz="1600" dirty="0">
              <a:solidFill>
                <a:schemeClr val="accent5">
                  <a:lumMod val="85000"/>
                  <a:lumOff val="15000"/>
                </a:schemeClr>
              </a:solidFill>
              <a:latin typeface="Work Sans Light Roman" pitchFamily="2" charset="77"/>
            </a:endParaRPr>
          </a:p>
          <a:p>
            <a:pPr marL="342900" indent="-342900">
              <a:buFont typeface="+mj-lt"/>
              <a:buAutoNum type="arabicPeriod"/>
            </a:pPr>
            <a:r>
              <a:rPr lang="es-CO" sz="1600" dirty="0" err="1">
                <a:solidFill>
                  <a:schemeClr val="accent5">
                    <a:lumMod val="85000"/>
                    <a:lumOff val="15000"/>
                  </a:schemeClr>
                </a:solidFill>
                <a:latin typeface="Work Sans Light Roman" pitchFamily="2" charset="77"/>
              </a:rPr>
              <a:t>Como administrador, proceso el pago de un plan</a:t>
            </a:r>
          </a:p>
          <a:p>
            <a:pPr marL="342900" indent="-342900">
              <a:buFont typeface="+mj-lt"/>
              <a:buAutoNum type="arabicPeriod"/>
            </a:pPr>
            <a:r>
              <a:rPr lang="es-CO" sz="1600" dirty="0" err="1">
                <a:solidFill>
                  <a:schemeClr val="accent5">
                    <a:lumMod val="85000"/>
                    <a:lumOff val="15000"/>
                  </a:schemeClr>
                </a:solidFill>
                <a:latin typeface="Work Sans Light Roman" pitchFamily="2" charset="77"/>
              </a:rPr>
              <a:t>Se emite factura y se actualiza la vigencia</a:t>
            </a:r>
          </a:p>
          <a:p>
            <a:pPr marL="342900" indent="-342900">
              <a:buFont typeface="+mj-lt"/>
              <a:buAutoNum type="arabicPeriod"/>
            </a:pPr>
            <a:r>
              <a:rPr lang="es-CO" sz="1600" dirty="0" err="1">
                <a:solidFill>
                  <a:schemeClr val="accent5">
                    <a:lumMod val="85000"/>
                    <a:lumOff val="15000"/>
                  </a:schemeClr>
                </a:solidFill>
                <a:latin typeface="Work Sans Light Roman" pitchFamily="2" charset="77"/>
              </a:rPr>
              <a:t>Requiere un método de pago válido</a:t>
            </a:r>
          </a:p>
        </p:txBody>
      </p:sp>
    </p:spTree>
    <p:extLst>
      <p:ext uri="{BB962C8B-B14F-4D97-AF65-F5344CB8AC3E}">
        <p14:creationId xmlns:p14="http://schemas.microsoft.com/office/powerpoint/2010/main" val="4580581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86F7D7-ECFC-17E3-4128-9A12250F6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uadroTexto 9">
            <a:extLst>
              <a:ext uri="{FF2B5EF4-FFF2-40B4-BE49-F238E27FC236}">
                <a16:creationId xmlns:a16="http://schemas.microsoft.com/office/drawing/2014/main" id="{2C2F1472-1B70-FB17-9B82-1AE3F52C5A6B}"/>
              </a:ext>
            </a:extLst>
          </p:cNvPr>
          <p:cNvSpPr txBox="1"/>
          <p:nvPr/>
        </p:nvSpPr>
        <p:spPr>
          <a:xfrm>
            <a:off x="0" y="1899034"/>
            <a:ext cx="12192000" cy="732848"/>
          </a:xfrm>
          <a:prstGeom prst="rect">
            <a:avLst/>
          </a:prstGeom>
          <a:solidFill>
            <a:schemeClr val="accent5">
              <a:alpha val="68057"/>
            </a:schemeClr>
          </a:solidFill>
        </p:spPr>
        <p:txBody>
          <a:bodyPr wrap="square" lIns="216000" tIns="180000" rIns="216000" bIns="180000" rtlCol="0">
            <a:spAutoFit/>
          </a:bodyPr>
          <a:lstStyle/>
          <a:p>
            <a:pPr algn="ctr"/>
            <a:r>
              <a:rPr lang="es-CO" sz="12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WORK SANS BOLD ROMAN" pitchFamily="2" charset="77"/>
              </a:rPr>
              <a:t>Arquitectura web de tres capas (MVC) desplegada en la nube de Azure.</a:t>
            </a:r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BCE429D0-1809-E6AE-F00C-BED57C80ABD9}"/>
              </a:ext>
            </a:extLst>
          </p:cNvPr>
          <p:cNvSpPr txBox="1">
            <a:spLocks/>
          </p:cNvSpPr>
          <p:nvPr/>
        </p:nvSpPr>
        <p:spPr>
          <a:xfrm>
            <a:off x="695325" y="3429000"/>
            <a:ext cx="6217920" cy="405598"/>
          </a:xfrm>
          <a:prstGeom prst="rect">
            <a:avLst/>
          </a:prstGeom>
        </p:spPr>
        <p:txBody>
          <a:bodyPr lIns="0" tIns="0" r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2400" b="1" dirty="0">
                <a:solidFill>
                  <a:srgbClr val="38AA00"/>
                </a:solidFill>
                <a:latin typeface="WORK SANS BOLD ROMAN" pitchFamily="2" charset="77"/>
              </a:rPr>
              <a:t>Arquitectura y Modelo de Datos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E3B60633-8760-284D-D90A-6B2A4C1E0A8B}"/>
              </a:ext>
            </a:extLst>
          </p:cNvPr>
          <p:cNvSpPr txBox="1"/>
          <p:nvPr/>
        </p:nvSpPr>
        <p:spPr>
          <a:xfrm>
            <a:off x="695325" y="3977639"/>
            <a:ext cx="3854368" cy="196977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CO" sz="1600" dirty="0" err="1">
                <a:solidFill>
                  <a:schemeClr val="accent5">
                    <a:lumMod val="85000"/>
                    <a:lumOff val="15000"/>
                  </a:schemeClr>
                </a:solidFill>
                <a:latin typeface="Work Sans Light Roman" pitchFamily="2" charset="77"/>
              </a:rPr>
              <a:t>Patrón MVC:</a:t>
            </a:r>
          </a:p>
          <a:p>
            <a:endParaRPr lang="es-CO" sz="1600" dirty="0">
              <a:solidFill>
                <a:schemeClr val="accent5">
                  <a:lumMod val="85000"/>
                  <a:lumOff val="15000"/>
                </a:schemeClr>
              </a:solidFill>
              <a:latin typeface="Work Sans Light Roman" pitchFamily="2" charset="77"/>
            </a:endParaRPr>
          </a:p>
          <a:p>
            <a:pPr marL="342900" indent="-342900">
              <a:buFont typeface="+mj-lt"/>
              <a:buAutoNum type="arabicPeriod"/>
            </a:pPr>
            <a:r>
              <a:rPr lang="es-CO" sz="1600" dirty="0" err="1">
                <a:solidFill>
                  <a:schemeClr val="accent5">
                    <a:lumMod val="85000"/>
                    <a:lumOff val="15000"/>
                  </a:schemeClr>
                </a:solidFill>
                <a:latin typeface="Work Sans Light Roman" pitchFamily="2" charset="77"/>
              </a:rPr>
              <a:t>Vista: JSP, HTML, CSS, Bootstrap</a:t>
            </a:r>
          </a:p>
          <a:p>
            <a:pPr marL="342900" indent="-342900">
              <a:buFont typeface="+mj-lt"/>
              <a:buAutoNum type="arabicPeriod"/>
            </a:pPr>
            <a:r>
              <a:rPr lang="es-CO" sz="1600" dirty="0" err="1">
                <a:solidFill>
                  <a:schemeClr val="accent5">
                    <a:lumMod val="85000"/>
                    <a:lumOff val="15000"/>
                  </a:schemeClr>
                </a:solidFill>
                <a:latin typeface="Work Sans Light Roman" pitchFamily="2" charset="77"/>
              </a:rPr>
              <a:t>Controlador: Java 17 + Servlets</a:t>
            </a:r>
          </a:p>
          <a:p>
            <a:pPr marL="342900" indent="-342900">
              <a:buFont typeface="+mj-lt"/>
              <a:buAutoNum type="arabicPeriod"/>
            </a:pPr>
            <a:r>
              <a:rPr lang="es-CO" sz="1600" dirty="0" err="1">
                <a:solidFill>
                  <a:schemeClr val="accent5">
                    <a:lumMod val="85000"/>
                    <a:lumOff val="15000"/>
                  </a:schemeClr>
                </a:solidFill>
                <a:latin typeface="Work Sans Light Roman" pitchFamily="2" charset="77"/>
              </a:rPr>
              <a:t>Modelo: DAO sobre MySQL 8.0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F88F4470-4912-F1DC-3ED8-89DBA5B4CE1A}"/>
              </a:ext>
            </a:extLst>
          </p:cNvPr>
          <p:cNvSpPr txBox="1"/>
          <p:nvPr/>
        </p:nvSpPr>
        <p:spPr>
          <a:xfrm>
            <a:off x="6787979" y="3977639"/>
            <a:ext cx="3854368" cy="196977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CO" sz="1600" dirty="0" err="1">
                <a:solidFill>
                  <a:schemeClr val="accent5">
                    <a:lumMod val="85000"/>
                    <a:lumOff val="15000"/>
                  </a:schemeClr>
                </a:solidFill>
                <a:latin typeface="Work Sans Light Roman" pitchFamily="2" charset="77"/>
              </a:rPr>
              <a:t>Modelo de datos (3FN):</a:t>
            </a:r>
          </a:p>
          <a:p>
            <a:endParaRPr lang="es-CO" sz="1600" dirty="0">
              <a:solidFill>
                <a:schemeClr val="accent5">
                  <a:lumMod val="85000"/>
                  <a:lumOff val="15000"/>
                </a:schemeClr>
              </a:solidFill>
              <a:latin typeface="Work Sans Light Roman" pitchFamily="2" charset="77"/>
            </a:endParaRP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s-CO" sz="1600" dirty="0" err="1">
                <a:solidFill>
                  <a:schemeClr val="accent5">
                    <a:lumMod val="85000"/>
                    <a:lumOff val="15000"/>
                  </a:schemeClr>
                </a:solidFill>
                <a:latin typeface="Work Sans Light Roman" pitchFamily="2" charset="77"/>
              </a:rPr>
              <a:t>17 tablas principales normalizadas</a:t>
            </a: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s-CO" sz="1600" dirty="0" err="1">
                <a:solidFill>
                  <a:schemeClr val="accent5">
                    <a:lumMod val="85000"/>
                    <a:lumOff val="15000"/>
                  </a:schemeClr>
                </a:solidFill>
                <a:latin typeface="Work Sans Light Roman" pitchFamily="2" charset="77"/>
              </a:rPr>
              <a:t>usuarios, membresías, asistencias, facturación</a:t>
            </a: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s-CO" sz="1600" dirty="0" err="1">
                <a:solidFill>
                  <a:schemeClr val="accent5">
                    <a:lumMod val="85000"/>
                    <a:lumOff val="15000"/>
                  </a:schemeClr>
                </a:solidFill>
                <a:latin typeface="Work Sans Light Roman" pitchFamily="2" charset="77"/>
              </a:rPr>
              <a:t>Consultas 100% mediante PreparedStatement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-91440" y="-91440"/>
            <a:ext cx="12374880" cy="281476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434" y="0"/>
            <a:ext cx="11793132" cy="2631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1536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951D1C-ACAB-30A9-933A-FC96DF28A2F0}"/>
              </a:ext>
            </a:extLst>
          </p:cNvPr>
          <p:cNvSpPr txBox="1">
            <a:spLocks/>
          </p:cNvSpPr>
          <p:nvPr/>
        </p:nvSpPr>
        <p:spPr>
          <a:xfrm>
            <a:off x="695325" y="2120265"/>
            <a:ext cx="5120640" cy="405598"/>
          </a:xfrm>
          <a:prstGeom prst="rect">
            <a:avLst/>
          </a:prstGeom>
        </p:spPr>
        <p:txBody>
          <a:bodyPr lIns="0" tIns="0" r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2400" b="1" dirty="0">
                <a:solidFill>
                  <a:srgbClr val="38AA00"/>
                </a:solidFill>
                <a:latin typeface="WORK SANS BOLD ROMAN" pitchFamily="2" charset="77"/>
              </a:rPr>
              <a:t>Diagrama de Clases del Sistema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F6697F3-B1A3-FADB-1243-D89866428CB1}"/>
              </a:ext>
            </a:extLst>
          </p:cNvPr>
          <p:cNvSpPr txBox="1"/>
          <p:nvPr/>
        </p:nvSpPr>
        <p:spPr>
          <a:xfrm>
            <a:off x="695325" y="2767965"/>
            <a:ext cx="3854368" cy="196977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s-CO" sz="1600" dirty="0" err="1">
                <a:solidFill>
                  <a:schemeClr val="accent5">
                    <a:lumMod val="85000"/>
                    <a:lumOff val="15000"/>
                  </a:schemeClr>
                </a:solidFill>
                <a:latin typeface="Work Sans Light Roman" pitchFamily="2" charset="77"/>
              </a:rPr>
              <a:t>Organización en paquetes lógicos según responsabilidad funcional.</a:t>
            </a:r>
          </a:p>
          <a:p>
            <a:endParaRPr lang="es-CO" sz="1600" dirty="0">
              <a:solidFill>
                <a:schemeClr val="accent5">
                  <a:lumMod val="85000"/>
                  <a:lumOff val="15000"/>
                </a:schemeClr>
              </a:solidFill>
              <a:latin typeface="Work Sans Light Roman" pitchFamily="2" charset="77"/>
            </a:endParaRPr>
          </a:p>
          <a:p>
            <a:pPr marL="342900" indent="-342900">
              <a:buFont typeface="+mj-lt"/>
              <a:buAutoNum type="arabicPeriod"/>
            </a:pPr>
            <a:r>
              <a:rPr lang="es-CO" sz="1600" dirty="0" err="1">
                <a:solidFill>
                  <a:schemeClr val="accent5">
                    <a:lumMod val="85000"/>
                    <a:lumOff val="15000"/>
                  </a:schemeClr>
                </a:solidFill>
                <a:latin typeface="Work Sans Light Roman" pitchFamily="2" charset="77"/>
              </a:rPr>
              <a:t>Servicios y Controladores</a:t>
            </a:r>
          </a:p>
          <a:p>
            <a:pPr marL="342900" indent="-342900">
              <a:buFont typeface="+mj-lt"/>
              <a:buAutoNum type="arabicPeriod"/>
            </a:pPr>
            <a:r>
              <a:rPr lang="es-CO" sz="1600" dirty="0" err="1">
                <a:solidFill>
                  <a:schemeClr val="accent5">
                    <a:lumMod val="85000"/>
                    <a:lumOff val="15000"/>
                  </a:schemeClr>
                </a:solidFill>
                <a:latin typeface="Work Sans Light Roman" pitchFamily="2" charset="77"/>
              </a:rPr>
              <a:t>Usuarios y Administración</a:t>
            </a:r>
          </a:p>
          <a:p>
            <a:pPr marL="342900" indent="-342900">
              <a:buFont typeface="+mj-lt"/>
              <a:buAutoNum type="arabicPeriod"/>
            </a:pPr>
            <a:r>
              <a:rPr lang="es-CO" sz="1600" dirty="0" err="1">
                <a:solidFill>
                  <a:schemeClr val="accent5">
                    <a:lumMod val="85000"/>
                    <a:lumOff val="15000"/>
                  </a:schemeClr>
                </a:solidFill>
                <a:latin typeface="Work Sans Light Roman" pitchFamily="2" charset="77"/>
              </a:rPr>
              <a:t>Gestión de Membresías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C54AB6E-C29A-94B8-B3E2-44C7228AEFBE}"/>
              </a:ext>
            </a:extLst>
          </p:cNvPr>
          <p:cNvSpPr txBox="1"/>
          <p:nvPr/>
        </p:nvSpPr>
        <p:spPr>
          <a:xfrm>
            <a:off x="6096000" y="5940487"/>
            <a:ext cx="6096000" cy="917513"/>
          </a:xfrm>
          <a:prstGeom prst="rect">
            <a:avLst/>
          </a:prstGeom>
          <a:solidFill>
            <a:schemeClr val="accent5">
              <a:alpha val="68057"/>
            </a:schemeClr>
          </a:solidFill>
        </p:spPr>
        <p:txBody>
          <a:bodyPr wrap="square" lIns="216000" tIns="180000" rIns="216000" bIns="180000" rtlCol="0">
            <a:spAutoFit/>
          </a:bodyPr>
          <a:lstStyle/>
          <a:p>
            <a:pPr algn="ctr"/>
            <a:r>
              <a:rPr lang="es-CO" sz="1200" b="1" dirty="0">
                <a:solidFill>
                  <a:schemeClr val="tx1">
                    <a:lumMod val="60000"/>
                    <a:lumOff val="40000"/>
                  </a:schemeClr>
                </a:solidFill>
                <a:latin typeface="WORK SANS BOLD ROMAN" pitchFamily="2" charset="77"/>
              </a:rPr>
              <a:t>Figura 3. Diagrama de clases UML de FitManager.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04560" y="-91440"/>
            <a:ext cx="6278880" cy="70451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class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6544" y="0"/>
            <a:ext cx="5874911" cy="6862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0001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35BFFB67-C3D4-337D-C327-AB25D270EADA}"/>
              </a:ext>
            </a:extLst>
          </p:cNvPr>
          <p:cNvSpPr txBox="1"/>
          <p:nvPr/>
        </p:nvSpPr>
        <p:spPr>
          <a:xfrm>
            <a:off x="731520" y="2377440"/>
            <a:ext cx="10698480" cy="2194560"/>
          </a:xfrm>
          <a:prstGeom prst="rect">
            <a:avLst/>
          </a:prstGeom>
          <a:noFill/>
        </p:spPr>
        <p:txBody>
          <a:bodyPr wrap="square" rtlCol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3200" b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WORK SANS BOLD ROMAN" pitchFamily="2" charset="77"/>
              </a:rPr>
              <a:t>FitManager digitaliza la operación de Taurus GYM: acceso confiable, trazabilidad financiera y una base lista para crecer.</a:t>
            </a:r>
            <a:endParaRPr kumimoji="0" lang="es-CO" sz="7200" b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WORK SANS BOLD ROMAN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1291846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46266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Tema de 2022">
  <a:themeElements>
    <a:clrScheme name="Personalizado 1">
      <a:dk1>
        <a:srgbClr val="39A900"/>
      </a:dk1>
      <a:lt1>
        <a:sysClr val="window" lastClr="FFFFFF"/>
      </a:lt1>
      <a:dk2>
        <a:srgbClr val="00304D"/>
      </a:dk2>
      <a:lt2>
        <a:srgbClr val="F6F6F6"/>
      </a:lt2>
      <a:accent1>
        <a:srgbClr val="007832"/>
      </a:accent1>
      <a:accent2>
        <a:srgbClr val="71127A"/>
      </a:accent2>
      <a:accent3>
        <a:srgbClr val="50E5F9"/>
      </a:accent3>
      <a:accent4>
        <a:srgbClr val="FDC300"/>
      </a:accent4>
      <a:accent5>
        <a:srgbClr val="000000"/>
      </a:accent5>
      <a:accent6>
        <a:srgbClr val="70AD47"/>
      </a:accent6>
      <a:hlink>
        <a:srgbClr val="0563C1"/>
      </a:hlink>
      <a:folHlink>
        <a:srgbClr val="71127A"/>
      </a:folHlink>
    </a:clrScheme>
    <a:fontScheme name="Office 2013 - Tema de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Tema de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4158</TotalTime>
  <Words>585</Words>
  <Application>Microsoft Office PowerPoint</Application>
  <PresentationFormat>Panorámica</PresentationFormat>
  <Paragraphs>148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4" baseType="lpstr">
      <vt:lpstr>Arial</vt:lpstr>
      <vt:lpstr>Calibri</vt:lpstr>
      <vt:lpstr>Calibri Light</vt:lpstr>
      <vt:lpstr>Work Sans Bold Roman</vt:lpstr>
      <vt:lpstr>Work Sans Bold Roman</vt:lpstr>
      <vt:lpstr>Work Sans Light Roman</vt:lpstr>
      <vt:lpstr>Work Sans Light Roman</vt:lpstr>
      <vt:lpstr>WORK SANS REGULAR ROMAN</vt:lpstr>
      <vt:lpstr>WORK SANS SEMIBOLD ROMAN</vt:lpstr>
      <vt:lpstr>Office 2013 - Tema de 2022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Jorge Enrique Pedraza Sanchez</dc:creator>
  <cp:lastModifiedBy>Magaly Zapata</cp:lastModifiedBy>
  <cp:revision>76</cp:revision>
  <dcterms:created xsi:type="dcterms:W3CDTF">2020-10-01T23:51:28Z</dcterms:created>
  <dcterms:modified xsi:type="dcterms:W3CDTF">2026-09-10T12:13:41Z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c111285-cafa-4fc9-8a9a-bd902089b24f_Enabled">
    <vt:lpwstr>true</vt:lpwstr>
  </property>
  <property fmtid="{D5CDD505-2E9C-101B-9397-08002B2CF9AE}" pid="3" name="MSIP_Label_fc111285-cafa-4fc9-8a9a-bd902089b24f_SetDate">
    <vt:lpwstr>2025-07-11T16:31:34Z</vt:lpwstr>
  </property>
  <property fmtid="{D5CDD505-2E9C-101B-9397-08002B2CF9AE}" pid="4" name="MSIP_Label_fc111285-cafa-4fc9-8a9a-bd902089b24f_Method">
    <vt:lpwstr>Privileged</vt:lpwstr>
  </property>
  <property fmtid="{D5CDD505-2E9C-101B-9397-08002B2CF9AE}" pid="5" name="MSIP_Label_fc111285-cafa-4fc9-8a9a-bd902089b24f_Name">
    <vt:lpwstr>Public</vt:lpwstr>
  </property>
  <property fmtid="{D5CDD505-2E9C-101B-9397-08002B2CF9AE}" pid="6" name="MSIP_Label_fc111285-cafa-4fc9-8a9a-bd902089b24f_SiteId">
    <vt:lpwstr>cbc2c381-2f2e-4d93-91d1-506c9316ace7</vt:lpwstr>
  </property>
  <property fmtid="{D5CDD505-2E9C-101B-9397-08002B2CF9AE}" pid="7" name="MSIP_Label_fc111285-cafa-4fc9-8a9a-bd902089b24f_ActionId">
    <vt:lpwstr>c6329c04-9ceb-4fca-88c8-0029777b3481</vt:lpwstr>
  </property>
  <property fmtid="{D5CDD505-2E9C-101B-9397-08002B2CF9AE}" pid="8" name="MSIP_Label_fc111285-cafa-4fc9-8a9a-bd902089b24f_ContentBits">
    <vt:lpwstr>0</vt:lpwstr>
  </property>
  <property fmtid="{D5CDD505-2E9C-101B-9397-08002B2CF9AE}" pid="9" name="MSIP_Label_fc111285-cafa-4fc9-8a9a-bd902089b24f_Tag">
    <vt:lpwstr>10, 0, 1, 1</vt:lpwstr>
  </property>
</Properties>
</file>